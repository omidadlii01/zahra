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8FAFC"/>
                </a:solidFill>
                <a:latin typeface="Yekan Bakh"/>
              </a:rPr>
              <a:t>درگاه پرداخت غیرمتمرکز D-pay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38BDF8"/>
                </a:solidFill>
                <a:latin typeface="Yekan Bakh"/>
              </a:rPr>
              <a:t>راهنمای جامع پذیرندگان و یکپارچه‌سازی درگاه Web3 (ویرایش جدید سیستم)</a:t>
            </a:r>
          </a:p>
          <a:p>
            <a:pPr algn="ctr">
              <a:spcBef>
                <a:spcPts val="2800"/>
              </a:spcBef>
            </a:pPr>
            <a:r>
              <a:rPr sz="1400">
                <a:solidFill>
                  <a:srgbClr val="94A3B8"/>
                </a:solidFill>
                <a:latin typeface="Yekan Bakh"/>
              </a:rPr>
              <a:t>ورود با ولت Web3 • ساخت فروشگاه بدون تایید ولت • برداشت دستی توسط پذیرنده • افزونه ووکامرس و 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Yekan Bakh"/>
              </a:rPr>
              <a:t>D-PAY WEBPAYMENT GATEWAY</a:t>
            </a:r>
          </a:p>
          <a:p>
            <a:pPr algn="r"/>
            <a:r>
              <a:rPr sz="2200" b="1">
                <a:solidFill>
                  <a:srgbClr val="F8FAFC"/>
                </a:solidFill>
                <a:latin typeface="Yekan Bakh"/>
              </a:rPr>
              <a:t>مزایای رقابتی و آخرین تغییرات سیستم (آپدیت نسخه جدید)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r"/>
            <a:r>
              <a:rPr sz="1100" b="1">
                <a:solidFill>
                  <a:srgbClr val="06B6D4"/>
                </a:solidFill>
                <a:latin typeface="Yekan Bakh"/>
              </a:rPr>
              <a:t>ورود ناشناس</a:t>
            </a:r>
          </a:p>
          <a:p>
            <a:pPr algn="r">
              <a:spcBef>
                <a:spcPts val="600"/>
              </a:spcBef>
            </a:pPr>
            <a:r>
              <a:rPr sz="1700" b="1">
                <a:solidFill>
                  <a:srgbClr val="F8FAFC"/>
                </a:solidFill>
                <a:latin typeface="Yekan Bakh"/>
              </a:rPr>
              <a:t>احراز هویت Web3 (بدون KYC)</a:t>
            </a:r>
          </a:p>
          <a:p>
            <a:pPr algn="r"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• ورود فقط با متامسک، ولت‌کانکت یا اسکن QR Code.</a:t>
            </a:r>
          </a:p>
          <a:p>
            <a:pPr algn="r"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• حفظ کامل محرمانگی هویت پذیرنده و خریدار (بدون ایمیل و پسورد).</a:t>
            </a:r>
          </a:p>
          <a:p>
            <a:pPr algn="r"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• عدم نیاز به ارائه مدارک هویتی برای شروع پذیرش رمزارز.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2544" y="146304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r"/>
            <a:r>
              <a:rPr sz="1100" b="1">
                <a:solidFill>
                  <a:srgbClr val="10B981"/>
                </a:solidFill>
                <a:latin typeface="Yekan Bakh"/>
              </a:rPr>
              <a:t>حذف خطاهای پرداخت</a:t>
            </a:r>
          </a:p>
          <a:p>
            <a:pPr algn="r">
              <a:spcBef>
                <a:spcPts val="600"/>
              </a:spcBef>
            </a:pPr>
            <a:r>
              <a:rPr sz="1700" b="1">
                <a:solidFill>
                  <a:srgbClr val="F8FAFC"/>
                </a:solidFill>
                <a:latin typeface="Yekan Bakh"/>
              </a:rPr>
              <a:t>امنیت قرارداد هوشمند (Approve)</a:t>
            </a:r>
          </a:p>
          <a:p>
            <a:pPr algn="r"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• مکانیزم تایید هوشمند جهت جلوگیری از کپی دستی آدرس.</a:t>
            </a:r>
          </a:p>
          <a:p>
            <a:pPr algn="r"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• محافظت کامل در برابر بدافزارهای کلیپ‌بورد (Clipboard Malware).</a:t>
            </a:r>
          </a:p>
          <a:p>
            <a:pPr algn="r"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• بررسی موجودی، شبکه و مبلغ فاکتور پیش از کسر وجه.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6448" y="146304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r"/>
            <a:r>
              <a:rPr sz="1100" b="1">
                <a:solidFill>
                  <a:srgbClr val="F59E0B"/>
                </a:solidFill>
                <a:latin typeface="Yekan Bakh"/>
              </a:rPr>
              <a:t>آپدیت جدید نسخه D-pay</a:t>
            </a:r>
          </a:p>
          <a:p>
            <a:pPr algn="r">
              <a:spcBef>
                <a:spcPts val="600"/>
              </a:spcBef>
            </a:pPr>
            <a:r>
              <a:rPr sz="1700" b="1">
                <a:solidFill>
                  <a:srgbClr val="F8FAFC"/>
                </a:solidFill>
                <a:latin typeface="Yekan Bakh"/>
              </a:rPr>
              <a:t>ساخت فروشگاه &amp; برداشت دستی</a:t>
            </a:r>
          </a:p>
          <a:p>
            <a:pPr algn="r"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• ساخت فروشگاه: تایید ولت فقط در لاگین است و ساخت فروشگاه نیازی به ولت ندارد.</a:t>
            </a:r>
          </a:p>
          <a:p>
            <a:pPr algn="r"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• مدیریت درآمد: مبالغ دریافتی در قرارداد هوشمند درگاه ذخیره می‌شوند.</a:t>
            </a:r>
          </a:p>
          <a:p>
            <a:pPr algn="r"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• برداشت مستقیم: پذیرنده هر زمان بخواهد از پنل درخواست برداشت ثبت می‌کند.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Yekan Bakh"/>
              </a:rPr>
              <a:t>D-PAY WEBPAYMENT GATEWAY</a:t>
            </a:r>
          </a:p>
          <a:p>
            <a:pPr algn="r"/>
            <a:r>
              <a:rPr sz="2200" b="1">
                <a:solidFill>
                  <a:srgbClr val="F8FAFC"/>
                </a:solidFill>
                <a:latin typeface="Yekan Bakh"/>
              </a:rPr>
              <a:t>پشتیبانی شبکه‌های چندگانه و اوراکل محاسبه نرخ لحظه‌ای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r"/>
            <a:r>
              <a:rPr sz="1800" b="1">
                <a:solidFill>
                  <a:srgbClr val="06B6D4"/>
                </a:solidFill>
                <a:latin typeface="Yekan Bakh"/>
              </a:rPr>
              <a:t>شبکه‌ها و بلاک‌چین‌های پشتیبانی‌شده (EVM)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✔ Ethereum (ETH): </a:t>
            </a:r>
            <a:r>
              <a:rPr sz="1200">
                <a:solidFill>
                  <a:srgbClr val="94A3B8"/>
                </a:solidFill>
                <a:latin typeface="Yekan Bakh"/>
              </a:rPr>
              <a:t>امنیت بالادستی و نقدینگی بالا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✔ BNB Smart Chain (BSC): </a:t>
            </a:r>
            <a:r>
              <a:rPr sz="1200">
                <a:solidFill>
                  <a:srgbClr val="94A3B8"/>
                </a:solidFill>
                <a:latin typeface="Yekan Bakh"/>
              </a:rPr>
              <a:t>تراکنش‌های بسیار سریع با کارمزد پایین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✔ Polygon (MATIC): </a:t>
            </a:r>
            <a:r>
              <a:rPr sz="1200">
                <a:solidFill>
                  <a:srgbClr val="94A3B8"/>
                </a:solidFill>
                <a:latin typeface="Yekan Bakh"/>
              </a:rPr>
              <a:t>مقیاس‌پذیری لایه دو اتریوم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✔ Avalanche (AVAX): </a:t>
            </a:r>
            <a:r>
              <a:rPr sz="1200">
                <a:solidFill>
                  <a:srgbClr val="94A3B8"/>
                </a:solidFill>
                <a:latin typeface="Yekan Bakh"/>
              </a:rPr>
              <a:t>سازگاری کامل EVM و سرعت بالا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✔ Arbitrum &amp; Optimism: </a:t>
            </a:r>
            <a:r>
              <a:rPr sz="1200">
                <a:solidFill>
                  <a:srgbClr val="94A3B8"/>
                </a:solidFill>
                <a:latin typeface="Yekan Bakh"/>
              </a:rPr>
              <a:t>پشتیبانی از رول‌آپ‌های لایه دوم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✔ Fantom &amp; Harmony: </a:t>
            </a:r>
            <a:r>
              <a:rPr sz="1200">
                <a:solidFill>
                  <a:srgbClr val="94A3B8"/>
                </a:solidFill>
                <a:latin typeface="Yekan Bakh"/>
              </a:rPr>
              <a:t>انعطاف‌پذیری در پرداخت‌های بین‌المللی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949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r"/>
            <a:r>
              <a:rPr sz="1800" b="1">
                <a:solidFill>
                  <a:srgbClr val="38BDF8"/>
                </a:solidFill>
                <a:latin typeface="Yekan Bakh"/>
              </a:rPr>
              <a:t>اوراکل نرخ لحظه‌ای و رمزارزها</a:t>
            </a:r>
          </a:p>
          <a:p>
            <a:pPr algn="r"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پذیرش استیبل‌کوین‌ها: </a:t>
            </a:r>
            <a:r>
              <a:rPr sz="1200">
                <a:solidFill>
                  <a:srgbClr val="94A3B8"/>
                </a:solidFill>
                <a:latin typeface="Yekan Bakh"/>
              </a:rPr>
              <a:t>پشتیبانی کامل از USDT، USDC، BUSD و DAI روی تمام شبکه‌های فعال.</a:t>
            </a:r>
          </a:p>
          <a:p>
            <a:pPr algn="r"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رمزارزهای پایه: </a:t>
            </a:r>
            <a:r>
              <a:rPr sz="1200">
                <a:solidFill>
                  <a:srgbClr val="94A3B8"/>
                </a:solidFill>
                <a:latin typeface="Yekan Bakh"/>
              </a:rPr>
              <a:t>پذیرش مستقیم اتریوم (ETH) و بیت‌کوین (BTC).</a:t>
            </a:r>
          </a:p>
          <a:p>
            <a:pPr algn="r"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اوراکل نرخ لحظه‌ای: </a:t>
            </a:r>
            <a:r>
              <a:rPr sz="1200">
                <a:solidFill>
                  <a:srgbClr val="94A3B8"/>
                </a:solidFill>
                <a:latin typeface="Yekan Bakh"/>
              </a:rPr>
              <a:t>محاسبه خودکار و پویای معادل کریپتویی سبد خرید دلاری هنگام تسویه.</a:t>
            </a:r>
          </a:p>
          <a:p>
            <a:pPr algn="r"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تجربه کاربری همگام: </a:t>
            </a:r>
            <a:r>
              <a:rPr sz="1200">
                <a:solidFill>
                  <a:srgbClr val="94A3B8"/>
                </a:solidFill>
                <a:latin typeface="Yekan Bakh"/>
              </a:rPr>
              <a:t>خریدار قیمت فاکتور (مثلا ۲۰ دلار) را به صورت لحظه‌ای به معادل ارز انتخابی می‌بیند.</a:t>
            </a:r>
          </a:p>
          <a:p>
            <a:pPr algn="r"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مدیریت ارزها: </a:t>
            </a:r>
            <a:r>
              <a:rPr sz="1200">
                <a:solidFill>
                  <a:srgbClr val="94A3B8"/>
                </a:solidFill>
                <a:latin typeface="Yekan Bakh"/>
              </a:rPr>
              <a:t>پذیرنده تعیین می‌کند کدام ارزها و شبکه‌ها در فروشگاه فعال باشند.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Yekan Bakh"/>
              </a:rPr>
              <a:t>D-PAY WEBPAYMENT GATEWAY</a:t>
            </a:r>
          </a:p>
          <a:p>
            <a:pPr algn="r"/>
            <a:r>
              <a:rPr sz="2200" b="1">
                <a:solidFill>
                  <a:srgbClr val="F8FAFC"/>
                </a:solidFill>
                <a:latin typeface="Yekan Bakh"/>
              </a:rPr>
              <a:t>فرآیند ۴ مرحله‌ای ساخت و تنظیمات فروشگاه (آپدیت جدید)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/>
            <a:r>
              <a:rPr sz="1400" b="1">
                <a:solidFill>
                  <a:srgbClr val="06B6D4"/>
                </a:solidFill>
                <a:latin typeface="Yekan Bakh"/>
              </a:rPr>
              <a:t>مرحله ۱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8FAFC"/>
                </a:solidFill>
                <a:latin typeface="Yekan Bakh"/>
              </a:rPr>
              <a:t>ورود با ولت Web3</a:t>
            </a:r>
          </a:p>
          <a:p>
            <a:pPr algn="r">
              <a:spcBef>
                <a:spcPts val="18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ورود و ثبت‌نام در داشبورد D-pay به وسیله متامسک یا ولت‌کانکت (تایید ولت در این مرحله).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19272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/>
            <a:r>
              <a:rPr sz="1400" b="1">
                <a:solidFill>
                  <a:srgbClr val="38BDF8"/>
                </a:solidFill>
                <a:latin typeface="Yekan Bakh"/>
              </a:rPr>
              <a:t>مرحله ۲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8FAFC"/>
                </a:solidFill>
                <a:latin typeface="Yekan Bakh"/>
              </a:rPr>
              <a:t>افزودن فروشگاه</a:t>
            </a:r>
          </a:p>
          <a:p>
            <a:pPr algn="r">
              <a:spcBef>
                <a:spcPts val="18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انتخاب Add Shop و ثبت نام، توضیحات و لوگوی فروشگاه (در این آپدیت نیاز به تایید ولت ندارد).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9904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/>
            <a:r>
              <a:rPr sz="1400" b="1">
                <a:solidFill>
                  <a:srgbClr val="10B981"/>
                </a:solidFill>
                <a:latin typeface="Yekan Bakh"/>
              </a:rPr>
              <a:t>مرحله ۳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8FAFC"/>
                </a:solidFill>
                <a:latin typeface="Yekan Bakh"/>
              </a:rPr>
              <a:t>لیست سفید دامنه‌ها</a:t>
            </a:r>
          </a:p>
          <a:p>
            <a:pPr algn="r">
              <a:spcBef>
                <a:spcPts val="18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وارد کردن دامنه‌های مجاز (Whitelist Domain) جهت امنیت فراخوانی API و جلوگیری از سوءاستفاده.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0536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/>
            <a:r>
              <a:rPr sz="1400" b="1">
                <a:solidFill>
                  <a:srgbClr val="F59E0B"/>
                </a:solidFill>
                <a:latin typeface="Yekan Bakh"/>
              </a:rPr>
              <a:t>مرحله ۴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8FAFC"/>
                </a:solidFill>
                <a:latin typeface="Yekan Bakh"/>
              </a:rPr>
              <a:t>دریافت Merchant Token</a:t>
            </a:r>
          </a:p>
          <a:p>
            <a:pPr algn="r">
              <a:spcBef>
                <a:spcPts val="1800"/>
              </a:spcBef>
            </a:pPr>
            <a:r>
              <a:rPr sz="1300">
                <a:solidFill>
                  <a:srgbClr val="94A3B8"/>
                </a:solidFill>
                <a:latin typeface="Yekan Bakh"/>
              </a:rPr>
              <a:t>پیکربندی ارزهای فعال و دریافت Token / Code اختصاصی فروشگاه جهت اتصال به سایت.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Yekan Bakh"/>
              </a:rPr>
              <a:t>D-PAY WEBPAYMENT GATEWAY</a:t>
            </a:r>
          </a:p>
          <a:p>
            <a:pPr algn="r"/>
            <a:r>
              <a:rPr sz="2200" b="1">
                <a:solidFill>
                  <a:srgbClr val="F8FAFC"/>
                </a:solidFill>
                <a:latin typeface="Yekan Bakh"/>
              </a:rPr>
              <a:t>روش‌های یکپارچه‌سازی: افزونه ووکامرس و REST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r"/>
            <a:r>
              <a:rPr sz="1800" b="1">
                <a:solidFill>
                  <a:srgbClr val="06B6D4"/>
                </a:solidFill>
                <a:latin typeface="Yekan Bakh"/>
              </a:rPr>
              <a:t>افزونه وردپرس و ووکامرس (WooCommerce)</a:t>
            </a:r>
          </a:p>
          <a:p>
            <a:pPr algn="r"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۱. دریافت افزونه: </a:t>
            </a:r>
            <a:r>
              <a:rPr sz="1200">
                <a:solidFill>
                  <a:srgbClr val="94A3B8"/>
                </a:solidFill>
                <a:latin typeface="Yekan Bakh"/>
              </a:rPr>
              <a:t>دانلود فایل Zip افزونه رسمی D-pay WooCommerce.</a:t>
            </a:r>
          </a:p>
          <a:p>
            <a:pPr algn="r"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۲. نصب در وردپرس: </a:t>
            </a:r>
            <a:r>
              <a:rPr sz="1200">
                <a:solidFill>
                  <a:srgbClr val="94A3B8"/>
                </a:solidFill>
                <a:latin typeface="Yekan Bakh"/>
              </a:rPr>
              <a:t>بارگذاری و فعال‌سازی افزونه در بخش افزونه‌های وردپرس.</a:t>
            </a:r>
          </a:p>
          <a:p>
            <a:pPr algn="r"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۳. ورود به تنظیمات: </a:t>
            </a:r>
            <a:r>
              <a:rPr sz="1200">
                <a:solidFill>
                  <a:srgbClr val="94A3B8"/>
                </a:solidFill>
                <a:latin typeface="Yekan Bakh"/>
              </a:rPr>
              <a:t>مراجعه به پیکربندی درگاه در مسیر WooCommerce &gt; Settings &gt; Payments.</a:t>
            </a:r>
          </a:p>
          <a:p>
            <a:pPr algn="r">
              <a:spcBef>
                <a:spcPts val="12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۴. جای‌گذاری Merchant Code: </a:t>
            </a:r>
            <a:r>
              <a:rPr sz="1200">
                <a:solidFill>
                  <a:srgbClr val="94A3B8"/>
                </a:solidFill>
                <a:latin typeface="Yekan Bakh"/>
              </a:rPr>
              <a:t>وارد کردن توکن فروشگاه و ذخیره‌سازی برای شروع پذیرش کریپتو.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949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r"/>
            <a:r>
              <a:rPr sz="1800" b="1">
                <a:solidFill>
                  <a:srgbClr val="38BDF8"/>
                </a:solidFill>
                <a:latin typeface="Yekan Bakh"/>
              </a:rPr>
              <a:t>فرآیند استعلام و تایید Web API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1. POST /order/add: </a:t>
            </a:r>
            <a:r>
              <a:rPr sz="1200">
                <a:solidFill>
                  <a:srgbClr val="94A3B8"/>
                </a:solidFill>
                <a:latin typeface="Yekan Bakh"/>
              </a:rPr>
              <a:t>ارسال مبلغ، callback، شماره سفارش و merchant_code -&gt; دریافت کد ۲۰ و لینک درگاه.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2. هدایت خریدار به Callback: </a:t>
            </a:r>
            <a:r>
              <a:rPr sz="1200">
                <a:solidFill>
                  <a:srgbClr val="94A3B8"/>
                </a:solidFill>
                <a:latin typeface="Yekan Bakh"/>
              </a:rPr>
              <a:t>پس از پرداخت، درگاه خریدار را همراه کد اختصاصی Authority به آدرس Callback برمی‌گرداند.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3. POST /order/verify: </a:t>
            </a:r>
            <a:r>
              <a:rPr sz="1200">
                <a:solidFill>
                  <a:srgbClr val="94A3B8"/>
                </a:solidFill>
                <a:latin typeface="Yekan Bakh"/>
              </a:rPr>
              <a:t>ارسال کد Authority جهت تایید نهایی درگاه (کد ۲۰ = پرداخت موفق، کد ۱۳ = ناموفق، کد ۲۱ = قبلا ثبت‌شده).</a:t>
            </a:r>
          </a:p>
          <a:p>
            <a:pPr algn="r">
              <a:spcBef>
                <a:spcPts val="10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🛠 ماژول‌های اختصاصی: </a:t>
            </a:r>
            <a:r>
              <a:rPr sz="1200">
                <a:solidFill>
                  <a:srgbClr val="94A3B8"/>
                </a:solidFill>
                <a:latin typeface="Yekan Bakh"/>
              </a:rPr>
              <a:t>امکان توسعه ماژول‌های سفارشی توسط تیم فنی D-pay برای سیستم‌های اختصاصی.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Yekan Bakh"/>
              </a:rPr>
              <a:t>D-PAY WEBPAYMENT GATEWAY</a:t>
            </a:r>
          </a:p>
          <a:p>
            <a:pPr algn="r"/>
            <a:r>
              <a:rPr sz="2200" b="1">
                <a:solidFill>
                  <a:srgbClr val="F8FAFC"/>
                </a:solidFill>
                <a:latin typeface="Yekan Bakh"/>
              </a:rPr>
              <a:t>سفر پرداخت خریدار و نحوه برداشت موجودی پذیرنده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1460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/>
            <a:r>
              <a:rPr sz="1400" b="1">
                <a:solidFill>
                  <a:srgbClr val="F8FAFC"/>
                </a:solidFill>
                <a:latin typeface="Yekan Bakh"/>
              </a:rPr>
              <a:t>۱. انتخاب ارز/شبکه</a:t>
            </a:r>
          </a:p>
          <a:p>
            <a:pPr algn="r"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Yekan Bakh"/>
              </a:rPr>
              <a:t>خریدار ارز مورد نظر را در تسویه حساب انتخاب می‌کند.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19272" y="1463040"/>
            <a:ext cx="251460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/>
            <a:r>
              <a:rPr sz="1400" b="1">
                <a:solidFill>
                  <a:srgbClr val="F8FAFC"/>
                </a:solidFill>
                <a:latin typeface="Yekan Bakh"/>
              </a:rPr>
              <a:t>۲. اتصال ولت</a:t>
            </a:r>
          </a:p>
          <a:p>
            <a:pPr algn="r"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Yekan Bakh"/>
              </a:rPr>
              <a:t>اتصال از طریق متامسک، ولت‌کانکت یا اسکن QR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9904" y="1463040"/>
            <a:ext cx="251460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/>
            <a:r>
              <a:rPr sz="1400" b="1">
                <a:solidFill>
                  <a:srgbClr val="F8FAFC"/>
                </a:solidFill>
                <a:latin typeface="Yekan Bakh"/>
              </a:rPr>
              <a:t>۳. تایید هوشمند (Approve)</a:t>
            </a:r>
          </a:p>
          <a:p>
            <a:pPr algn="r"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Yekan Bakh"/>
              </a:rPr>
              <a:t>بررسی موجودی و تایید کسر دقیق مبلغ از ولت خریدار.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0536" y="1463040"/>
            <a:ext cx="251460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/>
            <a:r>
              <a:rPr sz="1400" b="1">
                <a:solidFill>
                  <a:srgbClr val="F8FAFC"/>
                </a:solidFill>
                <a:latin typeface="Yekan Bakh"/>
              </a:rPr>
              <a:t>۴. تسویه آنی شبکه</a:t>
            </a:r>
          </a:p>
          <a:p>
            <a:pPr algn="r">
              <a:spcBef>
                <a:spcPts val="800"/>
              </a:spcBef>
            </a:pPr>
            <a:r>
              <a:rPr sz="1100">
                <a:solidFill>
                  <a:srgbClr val="94A3B8"/>
                </a:solidFill>
                <a:latin typeface="Yekan Bakh"/>
              </a:rPr>
              <a:t>تراکنش روی بلاک‌چین ثبت و سفارش نهایی می‌شود.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11094415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r"/>
            <a:r>
              <a:rPr sz="1700" b="1">
                <a:solidFill>
                  <a:srgbClr val="F59E0B"/>
                </a:solidFill>
                <a:latin typeface="Yekan Bakh"/>
              </a:rPr>
              <a:t>داشبورد مدیریت درآمد و نحوه برداشت پذیرنده (نسخه جدید)</a:t>
            </a:r>
          </a:p>
          <a:p>
            <a:pPr algn="r">
              <a:spcBef>
                <a:spcPts val="8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گزارش‌گیری لحظه‌ای فروش‌ها: </a:t>
            </a:r>
            <a:r>
              <a:rPr sz="1200">
                <a:solidFill>
                  <a:srgbClr val="94A3B8"/>
                </a:solidFill>
                <a:latin typeface="Yekan Bakh"/>
              </a:rPr>
              <a:t>مشاهده کامل سفارش‌ها، تراکنش‌های موفق و تاریخچه درآمدها در پنل پیشرفته پذیرنده.</a:t>
            </a:r>
          </a:p>
          <a:p>
            <a:pPr algn="r">
              <a:spcBef>
                <a:spcPts val="8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ذخیره‌سازی ایمن در قرارداد هوشمند: </a:t>
            </a:r>
            <a:r>
              <a:rPr sz="1200">
                <a:solidFill>
                  <a:srgbClr val="94A3B8"/>
                </a:solidFill>
                <a:latin typeface="Yekan Bakh"/>
              </a:rPr>
              <a:t>مبالغ دریافتی از خریداران در محیط امن قرارداد هوشمند درگاه باقی می‌ماند.</a:t>
            </a:r>
          </a:p>
          <a:p>
            <a:pPr algn="r">
              <a:spcBef>
                <a:spcPts val="800"/>
              </a:spcBef>
            </a:pPr>
            <a:r>
              <a:rPr sz="1300" b="1">
                <a:solidFill>
                  <a:srgbClr val="F8FAFC"/>
                </a:solidFill>
                <a:latin typeface="Yekan Bakh"/>
              </a:rPr>
              <a:t>• درخواست برداشت دستی (Manual Withdrawal): </a:t>
            </a:r>
            <a:r>
              <a:rPr sz="1200">
                <a:solidFill>
                  <a:srgbClr val="94A3B8"/>
                </a:solidFill>
                <a:latin typeface="Yekan Bakh"/>
              </a:rPr>
              <a:t>پذیرنده هر زمان که بخواهد می‌تواند از داخل پنل خود درخواست برداشت ثبت کند تا موجودی (مثلاً USDT روی شبکه BSC) مستقیماً به ولت شخصی او منتقل شود.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